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iF0ausKBXYj8E/r9+LrZgg5C+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6ED9D3-C9FE-4B52-9D2E-61AD6C9DD6D7}">
  <a:tblStyle styleId="{056ED9D3-C9FE-4B52-9D2E-61AD6C9DD6D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  <a:tcStyle>
        <a:fill>
          <a:solidFill>
            <a:srgbClr val="CDD4EA"/>
          </a:solidFill>
        </a:fill>
      </a:tcStyle>
    </a:band2H>
    <a:band1V>
      <a:tcTxStyle/>
      <a:tcStyle>
        <a:fill>
          <a:solidFill>
            <a:srgbClr val="CDD4EA"/>
          </a:solidFill>
        </a:fill>
      </a:tcStyle>
    </a:band1V>
    <a:band2V>
      <a:tcTxStyle/>
      <a:tcStyle>
        <a:fill>
          <a:solidFill>
            <a:srgbClr val="CDD4EA"/>
          </a:solidFill>
        </a:fill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seCell>
    <a:swCell>
      <a:tcTxStyle/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neCell>
    <a:nwCell>
      <a:tcTxStyle/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ru-RU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3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z="105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F25D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" name="Google Shape;15;p13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16" name="Google Shape;16;p13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7" name="Google Shape;17;p13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13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13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3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3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3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3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13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13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13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13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13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" name="Google Shape;29;p13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30" name="Google Shape;30;p13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13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3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13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3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13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13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3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3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13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13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13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" name="Google Shape;42;p13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43" name="Google Shape;43;p13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13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13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3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13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3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13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3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13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13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13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13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56" name="Google Shape;56;p13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13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69" name="Google Shape;69;p13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3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13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82" name="Google Shape;82;p13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1_Заголовок и объект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A19FC7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8544560" y="4874269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14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99" name="Google Shape;99;p14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00" name="Google Shape;100;p14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4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4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4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4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4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4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4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4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4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4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4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14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4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4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4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4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4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4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4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4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4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4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" name="Google Shape;125;p14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126" name="Google Shape;126;p14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4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4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4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4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4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4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4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4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4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4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4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" name="Google Shape;138;p14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139" name="Google Shape;139;p14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4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4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4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4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4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4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4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4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4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4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4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" name="Google Shape;151;p14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152" name="Google Shape;152;p14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4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4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4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4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4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4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4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4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14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165" name="Google Shape;165;p14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4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4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4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14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14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4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4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4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4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7" name="Google Shape;177;p14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z="1050" u="none" cap="none" strike="noStrike">
                <a:solidFill>
                  <a:srgbClr val="00549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54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1_Заголовок и объект 2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2597">
                <a:srgbClr val="0C056D"/>
              </a:gs>
              <a:gs pos="100000">
                <a:srgbClr val="5A90B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15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182" name="Google Shape;182;p15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183" name="Google Shape;183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5" name="Google Shape;195;p15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196" name="Google Shape;196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" name="Google Shape;208;p15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209" name="Google Shape;209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" name="Google Shape;221;p15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222" name="Google Shape;222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15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235" name="Google Shape;235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15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248" name="Google Shape;248;p15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5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5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5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5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5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5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5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5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15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5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098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0" name="Google Shape;260;p15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1_Заголовок и объект 3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F25D9C"/>
              </a:gs>
              <a:gs pos="100000">
                <a:srgbClr val="F8ADCD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16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265" name="Google Shape;265;p16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266" name="Google Shape;266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16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279" name="Google Shape;279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1" name="Google Shape;291;p16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292" name="Google Shape;292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4" name="Google Shape;304;p16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305" name="Google Shape;305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7" name="Google Shape;317;p16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318" name="Google Shape;318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16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331" name="Google Shape;331;p16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6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6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6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6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16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6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6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6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14118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3" name="Google Shape;343;p16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z="105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1_Заголовок и объект 4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0549A"/>
              </a:gs>
              <a:gs pos="100000">
                <a:schemeClr val="lt1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7" name="Google Shape;347;p17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348" name="Google Shape;348;p17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349" name="Google Shape;349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17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362" name="Google Shape;362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17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375" name="Google Shape;375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" name="Google Shape;387;p17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388" name="Google Shape;388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17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401" name="Google Shape;401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17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414" name="Google Shape;414;p17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7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7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7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7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7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7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7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7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7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7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7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chemeClr val="lt1">
                  <a:alpha val="30196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6" name="Google Shape;426;p17"/>
          <p:cNvSpPr txBox="1"/>
          <p:nvPr/>
        </p:nvSpPr>
        <p:spPr>
          <a:xfrm>
            <a:off x="8590966" y="4774705"/>
            <a:ext cx="450804" cy="2308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ru-RU" sz="1050" u="none" cap="none" strike="noStrike">
                <a:solidFill>
                  <a:srgbClr val="00549A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549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1_Титульный слайд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8"/>
          <p:cNvSpPr/>
          <p:nvPr/>
        </p:nvSpPr>
        <p:spPr>
          <a:xfrm>
            <a:off x="-16990" y="-5686"/>
            <a:ext cx="9160990" cy="5149186"/>
          </a:xfrm>
          <a:prstGeom prst="rect">
            <a:avLst/>
          </a:prstGeom>
          <a:gradFill>
            <a:gsLst>
              <a:gs pos="0">
                <a:srgbClr val="0C056D"/>
              </a:gs>
              <a:gs pos="44000">
                <a:srgbClr val="0C056D"/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28560" y="137993"/>
            <a:ext cx="1402964" cy="3246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0" name="Google Shape;430;p18"/>
          <p:cNvGrpSpPr/>
          <p:nvPr/>
        </p:nvGrpSpPr>
        <p:grpSpPr>
          <a:xfrm>
            <a:off x="254791" y="670273"/>
            <a:ext cx="8615773" cy="3797268"/>
            <a:chOff x="731520" y="670560"/>
            <a:chExt cx="8075850" cy="3559305"/>
          </a:xfrm>
        </p:grpSpPr>
        <p:grpSp>
          <p:nvGrpSpPr>
            <p:cNvPr id="431" name="Google Shape;431;p18"/>
            <p:cNvGrpSpPr/>
            <p:nvPr/>
          </p:nvGrpSpPr>
          <p:grpSpPr>
            <a:xfrm>
              <a:off x="731520" y="670560"/>
              <a:ext cx="8075850" cy="50800"/>
              <a:chOff x="731520" y="670560"/>
              <a:chExt cx="8075850" cy="50800"/>
            </a:xfrm>
          </p:grpSpPr>
          <p:sp>
            <p:nvSpPr>
              <p:cNvPr id="432" name="Google Shape;432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4" name="Google Shape;444;p18"/>
            <p:cNvGrpSpPr/>
            <p:nvPr/>
          </p:nvGrpSpPr>
          <p:grpSpPr>
            <a:xfrm>
              <a:off x="731520" y="1354300"/>
              <a:ext cx="8075850" cy="50800"/>
              <a:chOff x="731520" y="670560"/>
              <a:chExt cx="8075850" cy="50800"/>
            </a:xfrm>
          </p:grpSpPr>
          <p:sp>
            <p:nvSpPr>
              <p:cNvPr id="445" name="Google Shape;445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18"/>
            <p:cNvGrpSpPr/>
            <p:nvPr/>
          </p:nvGrpSpPr>
          <p:grpSpPr>
            <a:xfrm>
              <a:off x="731520" y="2062754"/>
              <a:ext cx="8075850" cy="50800"/>
              <a:chOff x="731520" y="670560"/>
              <a:chExt cx="8075850" cy="50800"/>
            </a:xfrm>
          </p:grpSpPr>
          <p:sp>
            <p:nvSpPr>
              <p:cNvPr id="458" name="Google Shape;458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0" name="Google Shape;470;p18"/>
            <p:cNvGrpSpPr/>
            <p:nvPr/>
          </p:nvGrpSpPr>
          <p:grpSpPr>
            <a:xfrm>
              <a:off x="731520" y="2777673"/>
              <a:ext cx="8075850" cy="50800"/>
              <a:chOff x="731520" y="670560"/>
              <a:chExt cx="8075850" cy="50800"/>
            </a:xfrm>
          </p:grpSpPr>
          <p:sp>
            <p:nvSpPr>
              <p:cNvPr id="471" name="Google Shape;471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3" name="Google Shape;483;p18"/>
            <p:cNvGrpSpPr/>
            <p:nvPr/>
          </p:nvGrpSpPr>
          <p:grpSpPr>
            <a:xfrm>
              <a:off x="731520" y="3475802"/>
              <a:ext cx="8075850" cy="50800"/>
              <a:chOff x="731520" y="670560"/>
              <a:chExt cx="8075850" cy="50800"/>
            </a:xfrm>
          </p:grpSpPr>
          <p:sp>
            <p:nvSpPr>
              <p:cNvPr id="484" name="Google Shape;484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3" name="Google Shape;493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6" name="Google Shape;496;p18"/>
            <p:cNvGrpSpPr/>
            <p:nvPr/>
          </p:nvGrpSpPr>
          <p:grpSpPr>
            <a:xfrm>
              <a:off x="731520" y="4179065"/>
              <a:ext cx="8075850" cy="50800"/>
              <a:chOff x="731520" y="670560"/>
              <a:chExt cx="8075850" cy="50800"/>
            </a:xfrm>
          </p:grpSpPr>
          <p:sp>
            <p:nvSpPr>
              <p:cNvPr id="497" name="Google Shape;497;p18"/>
              <p:cNvSpPr/>
              <p:nvPr/>
            </p:nvSpPr>
            <p:spPr>
              <a:xfrm>
                <a:off x="73152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8"/>
              <p:cNvSpPr/>
              <p:nvPr/>
            </p:nvSpPr>
            <p:spPr>
              <a:xfrm>
                <a:off x="14571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8"/>
              <p:cNvSpPr/>
              <p:nvPr/>
            </p:nvSpPr>
            <p:spPr>
              <a:xfrm>
                <a:off x="21871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8"/>
              <p:cNvSpPr/>
              <p:nvPr/>
            </p:nvSpPr>
            <p:spPr>
              <a:xfrm>
                <a:off x="29170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8"/>
              <p:cNvSpPr/>
              <p:nvPr/>
            </p:nvSpPr>
            <p:spPr>
              <a:xfrm>
                <a:off x="36469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8"/>
              <p:cNvSpPr/>
              <p:nvPr/>
            </p:nvSpPr>
            <p:spPr>
              <a:xfrm>
                <a:off x="43769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8"/>
              <p:cNvSpPr/>
              <p:nvPr/>
            </p:nvSpPr>
            <p:spPr>
              <a:xfrm>
                <a:off x="51068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8"/>
              <p:cNvSpPr/>
              <p:nvPr/>
            </p:nvSpPr>
            <p:spPr>
              <a:xfrm>
                <a:off x="583681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18"/>
              <p:cNvSpPr/>
              <p:nvPr/>
            </p:nvSpPr>
            <p:spPr>
              <a:xfrm>
                <a:off x="656675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18"/>
              <p:cNvSpPr/>
              <p:nvPr/>
            </p:nvSpPr>
            <p:spPr>
              <a:xfrm>
                <a:off x="729669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18"/>
              <p:cNvSpPr/>
              <p:nvPr/>
            </p:nvSpPr>
            <p:spPr>
              <a:xfrm>
                <a:off x="802663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18"/>
              <p:cNvSpPr/>
              <p:nvPr/>
            </p:nvSpPr>
            <p:spPr>
              <a:xfrm>
                <a:off x="8756570" y="670560"/>
                <a:ext cx="50800" cy="50800"/>
              </a:xfrm>
              <a:prstGeom prst="ellipse">
                <a:avLst/>
              </a:prstGeom>
              <a:solidFill>
                <a:srgbClr val="1E4E79">
                  <a:alpha val="3686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Relationship Id="rId4" Type="http://schemas.openxmlformats.org/officeDocument/2006/relationships/image" Target="../media/image17.jpg"/><Relationship Id="rId5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45"/>
            <a:ext cx="9130709" cy="513795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"/>
          <p:cNvSpPr/>
          <p:nvPr/>
        </p:nvSpPr>
        <p:spPr>
          <a:xfrm>
            <a:off x="-74228" y="5"/>
            <a:ext cx="9177900" cy="5143500"/>
          </a:xfrm>
          <a:prstGeom prst="rect">
            <a:avLst/>
          </a:prstGeom>
          <a:gradFill>
            <a:gsLst>
              <a:gs pos="0">
                <a:srgbClr val="0C056D">
                  <a:alpha val="81961"/>
                </a:srgbClr>
              </a:gs>
              <a:gs pos="866">
                <a:srgbClr val="0C056D">
                  <a:alpha val="81961"/>
                </a:srgbClr>
              </a:gs>
              <a:gs pos="28000">
                <a:srgbClr val="0C056D">
                  <a:alpha val="81961"/>
                </a:srgbClr>
              </a:gs>
              <a:gs pos="70000">
                <a:srgbClr val="590D82">
                  <a:alpha val="67843"/>
                </a:srgbClr>
              </a:gs>
              <a:gs pos="100000">
                <a:srgbClr val="590D8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"/>
          <p:cNvSpPr/>
          <p:nvPr/>
        </p:nvSpPr>
        <p:spPr>
          <a:xfrm>
            <a:off x="-14387333" y="-3608740"/>
            <a:ext cx="11285318" cy="3352847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"/>
          <p:cNvSpPr txBox="1"/>
          <p:nvPr/>
        </p:nvSpPr>
        <p:spPr>
          <a:xfrm>
            <a:off x="469179" y="3715430"/>
            <a:ext cx="47970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-RU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Билецкий Иван Романович</a:t>
            </a:r>
            <a:endParaRPr b="0" i="0" sz="19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ru-RU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Бескишкин Данияр Алексеевич  </a:t>
            </a:r>
            <a:endParaRPr b="0" i="0" sz="19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ru-RU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Беляев Никита Иванович </a:t>
            </a:r>
            <a:endParaRPr b="0" i="0" sz="19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rgbClr val="FFFFFF"/>
              </a:solidFill>
              <a:highlight>
                <a:srgbClr val="17181C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t/>
            </a:r>
            <a:endParaRPr b="0" i="0" sz="850" u="none" cap="none" strike="noStrike">
              <a:solidFill>
                <a:srgbClr val="FFFFFF"/>
              </a:solidFill>
              <a:highlight>
                <a:srgbClr val="17181C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17" name="Google Shape;51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8936" y="233660"/>
            <a:ext cx="1067132" cy="718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5888" y="299481"/>
            <a:ext cx="743391" cy="625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2853" y="296524"/>
            <a:ext cx="2341886" cy="541924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1"/>
          <p:cNvSpPr txBox="1"/>
          <p:nvPr/>
        </p:nvSpPr>
        <p:spPr>
          <a:xfrm>
            <a:off x="807500" y="1377025"/>
            <a:ext cx="7154700" cy="64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ru-RU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Команда:”Русалка в носках” </a:t>
            </a:r>
            <a:endParaRPr/>
          </a:p>
        </p:txBody>
      </p:sp>
      <p:sp>
        <p:nvSpPr>
          <p:cNvPr id="521" name="Google Shape;521;p1"/>
          <p:cNvSpPr/>
          <p:nvPr/>
        </p:nvSpPr>
        <p:spPr>
          <a:xfrm>
            <a:off x="-8052085" y="-2359063"/>
            <a:ext cx="8707477" cy="1255963"/>
          </a:xfrm>
          <a:prstGeom prst="ellipse">
            <a:avLst/>
          </a:prstGeom>
          <a:solidFill>
            <a:srgbClr val="B61AA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"/>
          <p:cNvSpPr txBox="1"/>
          <p:nvPr/>
        </p:nvSpPr>
        <p:spPr>
          <a:xfrm>
            <a:off x="6313902" y="3577381"/>
            <a:ext cx="2185200" cy="1056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Артём Витальевич 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Бенескул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1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педагог </a:t>
            </a:r>
            <a:r>
              <a:rPr b="0" i="0" lang="ru-RU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3" name="Google Shape;523;p1"/>
          <p:cNvGrpSpPr/>
          <p:nvPr/>
        </p:nvGrpSpPr>
        <p:grpSpPr>
          <a:xfrm>
            <a:off x="303478" y="2420275"/>
            <a:ext cx="5631957" cy="709522"/>
            <a:chOff x="579120" y="2415540"/>
            <a:chExt cx="5273040" cy="709522"/>
          </a:xfrm>
        </p:grpSpPr>
        <p:sp>
          <p:nvSpPr>
            <p:cNvPr id="524" name="Google Shape;524;p1"/>
            <p:cNvSpPr/>
            <p:nvPr/>
          </p:nvSpPr>
          <p:spPr>
            <a:xfrm>
              <a:off x="579120" y="2415540"/>
              <a:ext cx="5273040" cy="709522"/>
            </a:xfrm>
            <a:prstGeom prst="roundRect">
              <a:avLst>
                <a:gd fmla="val 50000" name="adj"/>
              </a:avLst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"/>
            <p:cNvSpPr/>
            <p:nvPr/>
          </p:nvSpPr>
          <p:spPr>
            <a:xfrm>
              <a:off x="740146" y="2571750"/>
              <a:ext cx="4959614" cy="415290"/>
            </a:xfrm>
            <a:prstGeom prst="roundRect">
              <a:avLst>
                <a:gd fmla="val 50000" name="adj"/>
              </a:avLst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1"/>
          <p:cNvSpPr txBox="1"/>
          <p:nvPr/>
        </p:nvSpPr>
        <p:spPr>
          <a:xfrm>
            <a:off x="593029" y="2482529"/>
            <a:ext cx="3779400" cy="6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ru-RU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Выбраная номинация:мобильная разработка</a:t>
            </a:r>
            <a:endParaRPr/>
          </a:p>
        </p:txBody>
      </p:sp>
      <p:sp>
        <p:nvSpPr>
          <p:cNvPr id="527" name="Google Shape;527;p1"/>
          <p:cNvSpPr txBox="1"/>
          <p:nvPr/>
        </p:nvSpPr>
        <p:spPr>
          <a:xfrm>
            <a:off x="563879" y="3407644"/>
            <a:ext cx="102651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Команда: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"/>
          <p:cNvSpPr txBox="1"/>
          <p:nvPr/>
        </p:nvSpPr>
        <p:spPr>
          <a:xfrm>
            <a:off x="6694950" y="3307675"/>
            <a:ext cx="117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F25D9C"/>
                </a:solidFill>
                <a:latin typeface="Arial"/>
                <a:ea typeface="Arial"/>
                <a:cs typeface="Arial"/>
                <a:sym typeface="Arial"/>
              </a:rPr>
              <a:t>Наставник: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"/>
          <p:cNvSpPr/>
          <p:nvPr/>
        </p:nvSpPr>
        <p:spPr>
          <a:xfrm>
            <a:off x="402841" y="3371461"/>
            <a:ext cx="5320800" cy="1464900"/>
          </a:xfrm>
          <a:prstGeom prst="roundRect">
            <a:avLst>
              <a:gd fmla="val 16189" name="adj"/>
            </a:avLst>
          </a:prstGeom>
          <a:noFill/>
          <a:ln cap="flat" cmpd="sng" w="9525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"/>
          <p:cNvSpPr/>
          <p:nvPr/>
        </p:nvSpPr>
        <p:spPr>
          <a:xfrm>
            <a:off x="6062225" y="3322075"/>
            <a:ext cx="2536800" cy="1514400"/>
          </a:xfrm>
          <a:prstGeom prst="roundRect">
            <a:avLst>
              <a:gd fmla="val 16189" name="adj"/>
            </a:avLst>
          </a:prstGeom>
          <a:noFill/>
          <a:ln cap="flat" cmpd="sng" w="9525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"/>
          <p:cNvSpPr txBox="1"/>
          <p:nvPr/>
        </p:nvSpPr>
        <p:spPr>
          <a:xfrm>
            <a:off x="6255600" y="4189850"/>
            <a:ext cx="2229300" cy="6908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дополнительного     </a:t>
            </a:r>
            <a:endParaRPr b="1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образования    </a:t>
            </a:r>
            <a:endParaRPr b="1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2"/>
          <p:cNvPicPr preferRelativeResize="0"/>
          <p:nvPr/>
        </p:nvPicPr>
        <p:blipFill rotWithShape="1">
          <a:blip r:embed="rId3">
            <a:alphaModFix/>
          </a:blip>
          <a:srcRect b="12597" l="0" r="0" t="12597"/>
          <a:stretch/>
        </p:blipFill>
        <p:spPr>
          <a:xfrm>
            <a:off x="351889" y="1155309"/>
            <a:ext cx="2560251" cy="28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2"/>
          <p:cNvPicPr preferRelativeResize="0"/>
          <p:nvPr/>
        </p:nvPicPr>
        <p:blipFill rotWithShape="1">
          <a:blip r:embed="rId4">
            <a:alphaModFix/>
          </a:blip>
          <a:srcRect b="18908" l="0" r="0" t="18914"/>
          <a:stretch/>
        </p:blipFill>
        <p:spPr>
          <a:xfrm>
            <a:off x="6384093" y="1155296"/>
            <a:ext cx="2560251" cy="28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7951" y="1155309"/>
            <a:ext cx="2860350" cy="2832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"/>
          <p:cNvSpPr txBox="1"/>
          <p:nvPr/>
        </p:nvSpPr>
        <p:spPr>
          <a:xfrm>
            <a:off x="3799838" y="602676"/>
            <a:ext cx="39282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Команда:</a:t>
            </a:r>
            <a:endParaRPr b="1" sz="21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"/>
          <p:cNvSpPr txBox="1"/>
          <p:nvPr/>
        </p:nvSpPr>
        <p:spPr>
          <a:xfrm>
            <a:off x="351900" y="3988200"/>
            <a:ext cx="2860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Беляев Никита</a:t>
            </a:r>
            <a:endParaRPr b="1" sz="21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"/>
          <p:cNvSpPr txBox="1"/>
          <p:nvPr/>
        </p:nvSpPr>
        <p:spPr>
          <a:xfrm>
            <a:off x="3218025" y="3988200"/>
            <a:ext cx="28602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Бескишкин Данияр</a:t>
            </a:r>
            <a:endParaRPr b="1" sz="21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"/>
          <p:cNvSpPr txBox="1"/>
          <p:nvPr/>
        </p:nvSpPr>
        <p:spPr>
          <a:xfrm>
            <a:off x="6384100" y="3988200"/>
            <a:ext cx="25602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1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Билецкий Иван</a:t>
            </a:r>
            <a:endParaRPr b="1" sz="2100">
              <a:solidFill>
                <a:srgbClr val="99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В яблочко со сплошной заливкой" id="548" name="Google Shape;54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7933" y="-242361"/>
            <a:ext cx="1409298" cy="1409298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3"/>
          <p:cNvSpPr/>
          <p:nvPr/>
        </p:nvSpPr>
        <p:spPr>
          <a:xfrm>
            <a:off x="3404425" y="1290063"/>
            <a:ext cx="1331100" cy="388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"/>
          <p:cNvSpPr/>
          <p:nvPr/>
        </p:nvSpPr>
        <p:spPr>
          <a:xfrm>
            <a:off x="2652999" y="257650"/>
            <a:ext cx="3357600" cy="79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Цель и задачи</a:t>
            </a:r>
            <a:endParaRPr/>
          </a:p>
        </p:txBody>
      </p:sp>
      <p:sp>
        <p:nvSpPr>
          <p:cNvPr id="551" name="Google Shape;551;p3"/>
          <p:cNvSpPr txBox="1"/>
          <p:nvPr/>
        </p:nvSpPr>
        <p:spPr>
          <a:xfrm>
            <a:off x="3640982" y="1311076"/>
            <a:ext cx="858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ЦЕЛЬ: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"/>
          <p:cNvSpPr txBox="1"/>
          <p:nvPr/>
        </p:nvSpPr>
        <p:spPr>
          <a:xfrm>
            <a:off x="1721350" y="1916600"/>
            <a:ext cx="5220900" cy="5511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создание приложения для изучения программирования и получения базовых навыков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"/>
          <p:cNvSpPr/>
          <p:nvPr/>
        </p:nvSpPr>
        <p:spPr>
          <a:xfrm>
            <a:off x="3429420" y="2521635"/>
            <a:ext cx="1331100" cy="388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"/>
          <p:cNvSpPr txBox="1"/>
          <p:nvPr/>
        </p:nvSpPr>
        <p:spPr>
          <a:xfrm>
            <a:off x="3553782" y="2542635"/>
            <a:ext cx="1082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Задачи: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3"/>
          <p:cNvSpPr txBox="1"/>
          <p:nvPr/>
        </p:nvSpPr>
        <p:spPr>
          <a:xfrm>
            <a:off x="1624575" y="2975725"/>
            <a:ext cx="6111900" cy="1262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сделать</a:t>
            </a:r>
            <a:r>
              <a:rPr b="0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изучение программирования с геймификацией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не</a:t>
            </a:r>
            <a:r>
              <a:rPr b="0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не делать жёстко а изучение должно быть плавно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сделать вступление для того чтобы человек понял все без сложности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давать внутреигровые награды чтобы человек стремился к чему то</a:t>
            </a:r>
            <a:endParaRPr/>
          </a:p>
        </p:txBody>
      </p:sp>
      <p:pic>
        <p:nvPicPr>
          <p:cNvPr descr="Picture background" id="556" name="Google Shape;55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2082113" y="1616353"/>
            <a:ext cx="768634" cy="768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989253" y="2690879"/>
            <a:ext cx="605787" cy="605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58" name="Google Shape;55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989253" y="3776599"/>
            <a:ext cx="582663" cy="512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034334" y="1678277"/>
            <a:ext cx="654388" cy="654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60" name="Google Shape;56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034334" y="2745010"/>
            <a:ext cx="582663" cy="582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background" id="561" name="Google Shape;56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978251" y="3828473"/>
            <a:ext cx="470495" cy="470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Весы правосудия со сплошной заливкой" id="567" name="Google Shape;5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2914" y="-98925"/>
            <a:ext cx="1106953" cy="1106953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"/>
          <p:cNvSpPr/>
          <p:nvPr/>
        </p:nvSpPr>
        <p:spPr>
          <a:xfrm>
            <a:off x="292160" y="1126910"/>
            <a:ext cx="3395920" cy="38818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"/>
          <p:cNvSpPr/>
          <p:nvPr/>
        </p:nvSpPr>
        <p:spPr>
          <a:xfrm>
            <a:off x="2430934" y="101427"/>
            <a:ext cx="6462300" cy="79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26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способы обучения программированию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"/>
          <p:cNvSpPr txBox="1"/>
          <p:nvPr/>
        </p:nvSpPr>
        <p:spPr>
          <a:xfrm>
            <a:off x="470773" y="1143360"/>
            <a:ext cx="3075067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Существующие аналоги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"/>
          <p:cNvSpPr/>
          <p:nvPr/>
        </p:nvSpPr>
        <p:spPr>
          <a:xfrm>
            <a:off x="4653280" y="1126910"/>
            <a:ext cx="1920240" cy="38818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"/>
          <p:cNvSpPr txBox="1"/>
          <p:nvPr/>
        </p:nvSpPr>
        <p:spPr>
          <a:xfrm>
            <a:off x="4831893" y="1143360"/>
            <a:ext cx="1660347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Недостатки</a:t>
            </a:r>
            <a:endParaRPr b="0" i="0" sz="18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73" name="Google Shape;573;p4"/>
          <p:cNvGraphicFramePr/>
          <p:nvPr/>
        </p:nvGraphicFramePr>
        <p:xfrm>
          <a:off x="426059" y="16800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{056ED9D3-C9FE-4B52-9D2E-61AD6C9DD6D7}</a:tableStyleId>
              </a:tblPr>
              <a:tblGrid>
                <a:gridCol w="4135775"/>
                <a:gridCol w="4064000"/>
              </a:tblGrid>
              <a:tr h="46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/>
                        <a:t>Mimo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C056D"/>
                          </a:solidFill>
                        </a:rPr>
                        <a:t>сложность продолжения обучения после практики</a:t>
                      </a:r>
                      <a:endParaRPr sz="1400" u="none" cap="none" strike="noStrike">
                        <a:solidFill>
                          <a:srgbClr val="0C056D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C056D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0C056D"/>
                          </a:solidFill>
                        </a:rPr>
                        <a:t>Enki</a:t>
                      </a:r>
                      <a:endParaRPr b="1" sz="1400" u="none" cap="none" strike="noStrike">
                        <a:solidFill>
                          <a:srgbClr val="0C056D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0C056D"/>
                          </a:solidFill>
                        </a:rPr>
                        <a:t>проблема анализирования ответов, запутано</a:t>
                      </a:r>
                      <a:endParaRPr b="1" sz="1400" u="none" cap="none" strike="noStrike">
                        <a:solidFill>
                          <a:srgbClr val="0C056D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74" name="Google Shape;574;p4" title="Снимок экрана 2026-10-07 190239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50" y="3045705"/>
            <a:ext cx="1900915" cy="1908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4" title="Снимок экрана 2026-10-07 190435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6290" y="3045705"/>
            <a:ext cx="1908970" cy="1908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"/>
          <p:cNvSpPr/>
          <p:nvPr/>
        </p:nvSpPr>
        <p:spPr>
          <a:xfrm>
            <a:off x="292160" y="1126910"/>
            <a:ext cx="1628080" cy="38818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5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Конкурентные преимущества</a:t>
            </a:r>
            <a:endParaRPr/>
          </a:p>
        </p:txBody>
      </p:sp>
      <p:sp>
        <p:nvSpPr>
          <p:cNvPr id="583" name="Google Shape;583;p5"/>
          <p:cNvSpPr txBox="1"/>
          <p:nvPr/>
        </p:nvSpPr>
        <p:spPr>
          <a:xfrm>
            <a:off x="470773" y="1143360"/>
            <a:ext cx="1358027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Аналоги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5"/>
          <p:cNvSpPr/>
          <p:nvPr/>
        </p:nvSpPr>
        <p:spPr>
          <a:xfrm>
            <a:off x="3202853" y="1126910"/>
            <a:ext cx="5470374" cy="38818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5"/>
          <p:cNvSpPr txBox="1"/>
          <p:nvPr/>
        </p:nvSpPr>
        <p:spPr>
          <a:xfrm>
            <a:off x="3381466" y="1143360"/>
            <a:ext cx="4737775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Преимущества нашего решения</a:t>
            </a:r>
            <a:endParaRPr b="0" i="0" sz="18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6" name="Google Shape;586;p5"/>
          <p:cNvGraphicFramePr/>
          <p:nvPr/>
        </p:nvGraphicFramePr>
        <p:xfrm>
          <a:off x="426059" y="16800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{056ED9D3-C9FE-4B52-9D2E-61AD6C9DD6D7}</a:tableStyleId>
              </a:tblPr>
              <a:tblGrid>
                <a:gridCol w="2764175"/>
                <a:gridCol w="5435600"/>
              </a:tblGrid>
              <a:tr h="463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C056D"/>
                          </a:solidFill>
                        </a:rPr>
                        <a:t>Mimo</a:t>
                      </a:r>
                      <a:endParaRPr sz="1400" u="none" cap="none" strike="noStrike">
                        <a:solidFill>
                          <a:srgbClr val="0C056D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C056D"/>
                          </a:solidFill>
                        </a:rPr>
                        <a:t>         </a:t>
                      </a:r>
                      <a:r>
                        <a:rPr lang="ru-RU" sz="1400" u="none" cap="none" strike="noStrike">
                          <a:solidFill>
                            <a:srgbClr val="0C056D"/>
                          </a:solidFill>
                        </a:rPr>
                        <a:t>даются знания достаточны для небольшого обучения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0C056D"/>
                          </a:solidFill>
                        </a:rPr>
                        <a:t>Enki</a:t>
                      </a:r>
                      <a:endParaRPr b="1" sz="1400" u="none" cap="none" strike="noStrike">
                        <a:solidFill>
                          <a:srgbClr val="0C056D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ru-RU" sz="1400" u="none" cap="none" strike="noStrike">
                          <a:solidFill>
                            <a:srgbClr val="0C056D"/>
                          </a:solidFill>
                        </a:rPr>
                        <a:t>не запутано и легко обучатся</a:t>
                      </a:r>
                      <a:endParaRPr b="1"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7" name="Google Shape;587;p5"/>
          <p:cNvSpPr txBox="1"/>
          <p:nvPr/>
        </p:nvSpPr>
        <p:spPr>
          <a:xfrm>
            <a:off x="1340525" y="2943300"/>
            <a:ext cx="58200" cy="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5"/>
          <p:cNvSpPr txBox="1"/>
          <p:nvPr/>
        </p:nvSpPr>
        <p:spPr>
          <a:xfrm>
            <a:off x="2800050" y="2571750"/>
            <a:ext cx="3543900" cy="5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rgbClr val="0C056D"/>
                </a:solidFill>
                <a:latin typeface="Calibri"/>
                <a:ea typeface="Calibri"/>
                <a:cs typeface="Calibri"/>
                <a:sym typeface="Calibri"/>
              </a:rPr>
              <a:t>наш проект Кодопуть</a:t>
            </a:r>
            <a:endParaRPr b="1" i="0" sz="2100" u="none" cap="none" strike="noStrike">
              <a:solidFill>
                <a:srgbClr val="0C056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9" name="Google Shape;589;p5" title="Снимок экрана 2026-10-07 19183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2850" y="3235224"/>
            <a:ext cx="1628101" cy="163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"/>
          <p:cNvSpPr/>
          <p:nvPr/>
        </p:nvSpPr>
        <p:spPr>
          <a:xfrm>
            <a:off x="292160" y="2238870"/>
            <a:ext cx="7228780" cy="38818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F25D9C"/>
              </a:gs>
              <a:gs pos="100000">
                <a:srgbClr val="B61AAE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"/>
          <p:cNvSpPr/>
          <p:nvPr/>
        </p:nvSpPr>
        <p:spPr>
          <a:xfrm>
            <a:off x="426059" y="214052"/>
            <a:ext cx="6462244" cy="793976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Этапы работы</a:t>
            </a:r>
            <a:endParaRPr/>
          </a:p>
        </p:txBody>
      </p:sp>
      <p:sp>
        <p:nvSpPr>
          <p:cNvPr id="597" name="Google Shape;597;p6"/>
          <p:cNvSpPr txBox="1"/>
          <p:nvPr/>
        </p:nvSpPr>
        <p:spPr>
          <a:xfrm>
            <a:off x="470773" y="2255320"/>
            <a:ext cx="2910693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Распределение задач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6"/>
          <p:cNvSpPr/>
          <p:nvPr/>
        </p:nvSpPr>
        <p:spPr>
          <a:xfrm>
            <a:off x="292160" y="2775818"/>
            <a:ext cx="1330900" cy="38818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6"/>
          <p:cNvSpPr txBox="1"/>
          <p:nvPr/>
        </p:nvSpPr>
        <p:spPr>
          <a:xfrm>
            <a:off x="470774" y="2792268"/>
            <a:ext cx="1190534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Задача</a:t>
            </a:r>
            <a:endParaRPr b="0" i="0" sz="18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0" name="Google Shape;600;p6"/>
          <p:cNvCxnSpPr/>
          <p:nvPr/>
        </p:nvCxnSpPr>
        <p:spPr>
          <a:xfrm>
            <a:off x="0" y="1264075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B61AA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6"/>
          <p:cNvSpPr txBox="1"/>
          <p:nvPr/>
        </p:nvSpPr>
        <p:spPr>
          <a:xfrm>
            <a:off x="206431" y="1649001"/>
            <a:ext cx="1625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Подготовка</a:t>
            </a:r>
            <a:endParaRPr b="0" i="0" sz="1400" u="none" cap="none" strike="noStrike">
              <a:solidFill>
                <a:srgbClr val="0C056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6"/>
          <p:cNvSpPr txBox="1"/>
          <p:nvPr/>
        </p:nvSpPr>
        <p:spPr>
          <a:xfrm>
            <a:off x="2220333" y="1606801"/>
            <a:ext cx="1592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шаг проекта</a:t>
            </a:r>
            <a:endParaRPr/>
          </a:p>
        </p:txBody>
      </p:sp>
      <p:sp>
        <p:nvSpPr>
          <p:cNvPr id="603" name="Google Shape;603;p6"/>
          <p:cNvSpPr txBox="1"/>
          <p:nvPr/>
        </p:nvSpPr>
        <p:spPr>
          <a:xfrm>
            <a:off x="4443033" y="1606801"/>
            <a:ext cx="16977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Соревнование</a:t>
            </a:r>
            <a:endParaRPr/>
          </a:p>
        </p:txBody>
      </p:sp>
      <p:sp>
        <p:nvSpPr>
          <p:cNvPr id="604" name="Google Shape;604;p6"/>
          <p:cNvSpPr txBox="1"/>
          <p:nvPr/>
        </p:nvSpPr>
        <p:spPr>
          <a:xfrm>
            <a:off x="6404013" y="1606789"/>
            <a:ext cx="2703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Итоги и награждение</a:t>
            </a:r>
            <a:endParaRPr/>
          </a:p>
        </p:txBody>
      </p:sp>
      <p:sp>
        <p:nvSpPr>
          <p:cNvPr id="605" name="Google Shape;605;p6"/>
          <p:cNvSpPr txBox="1"/>
          <p:nvPr/>
        </p:nvSpPr>
        <p:spPr>
          <a:xfrm>
            <a:off x="73625" y="1435700"/>
            <a:ext cx="1625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7 сент.–12 сент.</a:t>
            </a:r>
            <a:endParaRPr b="1" i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"/>
          <p:cNvSpPr txBox="1"/>
          <p:nvPr/>
        </p:nvSpPr>
        <p:spPr>
          <a:xfrm>
            <a:off x="2220333" y="1403649"/>
            <a:ext cx="18342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14 сент.–21 сент.</a:t>
            </a:r>
            <a:endParaRPr b="1" i="0" sz="14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"/>
          <p:cNvSpPr txBox="1"/>
          <p:nvPr/>
        </p:nvSpPr>
        <p:spPr>
          <a:xfrm>
            <a:off x="4443020" y="1435649"/>
            <a:ext cx="19941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21 сент. – 11 окт.</a:t>
            </a:r>
            <a:endParaRPr/>
          </a:p>
        </p:txBody>
      </p:sp>
      <p:sp>
        <p:nvSpPr>
          <p:cNvPr id="608" name="Google Shape;608;p6"/>
          <p:cNvSpPr txBox="1"/>
          <p:nvPr/>
        </p:nvSpPr>
        <p:spPr>
          <a:xfrm>
            <a:off x="6404038" y="1403674"/>
            <a:ext cx="1994030" cy="375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30 окт.</a:t>
            </a:r>
            <a:endParaRPr/>
          </a:p>
        </p:txBody>
      </p:sp>
      <p:grpSp>
        <p:nvGrpSpPr>
          <p:cNvPr id="609" name="Google Shape;609;p6"/>
          <p:cNvGrpSpPr/>
          <p:nvPr/>
        </p:nvGrpSpPr>
        <p:grpSpPr>
          <a:xfrm>
            <a:off x="439735" y="1076608"/>
            <a:ext cx="374934" cy="374934"/>
            <a:chOff x="702815" y="3022267"/>
            <a:chExt cx="134948" cy="134948"/>
          </a:xfrm>
        </p:grpSpPr>
        <p:sp>
          <p:nvSpPr>
            <p:cNvPr id="610" name="Google Shape;610;p6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6"/>
          <p:cNvGrpSpPr/>
          <p:nvPr/>
        </p:nvGrpSpPr>
        <p:grpSpPr>
          <a:xfrm>
            <a:off x="2445398" y="1076608"/>
            <a:ext cx="374934" cy="374934"/>
            <a:chOff x="702815" y="3022267"/>
            <a:chExt cx="134948" cy="134948"/>
          </a:xfrm>
        </p:grpSpPr>
        <p:sp>
          <p:nvSpPr>
            <p:cNvPr id="613" name="Google Shape;613;p6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5" name="Google Shape;615;p6"/>
          <p:cNvGrpSpPr/>
          <p:nvPr/>
        </p:nvGrpSpPr>
        <p:grpSpPr>
          <a:xfrm>
            <a:off x="4443043" y="1076608"/>
            <a:ext cx="374934" cy="374934"/>
            <a:chOff x="702815" y="3022267"/>
            <a:chExt cx="134948" cy="134948"/>
          </a:xfrm>
        </p:grpSpPr>
        <p:sp>
          <p:nvSpPr>
            <p:cNvPr id="616" name="Google Shape;616;p6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p6"/>
          <p:cNvGrpSpPr/>
          <p:nvPr/>
        </p:nvGrpSpPr>
        <p:grpSpPr>
          <a:xfrm>
            <a:off x="6323670" y="1076608"/>
            <a:ext cx="374934" cy="374934"/>
            <a:chOff x="702815" y="3022267"/>
            <a:chExt cx="134948" cy="134948"/>
          </a:xfrm>
        </p:grpSpPr>
        <p:sp>
          <p:nvSpPr>
            <p:cNvPr id="619" name="Google Shape;619;p6"/>
            <p:cNvSpPr/>
            <p:nvPr/>
          </p:nvSpPr>
          <p:spPr>
            <a:xfrm>
              <a:off x="702815" y="3022267"/>
              <a:ext cx="134948" cy="134948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732193" y="3046163"/>
              <a:ext cx="81674" cy="81674"/>
            </a:xfrm>
            <a:prstGeom prst="ellipse">
              <a:avLst/>
            </a:prstGeom>
            <a:solidFill>
              <a:srgbClr val="F25D9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6"/>
          <p:cNvSpPr/>
          <p:nvPr/>
        </p:nvSpPr>
        <p:spPr>
          <a:xfrm>
            <a:off x="3202852" y="2775818"/>
            <a:ext cx="2283548" cy="38818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6"/>
          <p:cNvSpPr txBox="1"/>
          <p:nvPr/>
        </p:nvSpPr>
        <p:spPr>
          <a:xfrm>
            <a:off x="3381466" y="2792268"/>
            <a:ext cx="2221868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Ответственный</a:t>
            </a:r>
            <a:endParaRPr b="0" i="0" sz="18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6"/>
          <p:cNvSpPr/>
          <p:nvPr/>
        </p:nvSpPr>
        <p:spPr>
          <a:xfrm>
            <a:off x="6451358" y="2775818"/>
            <a:ext cx="1069582" cy="388189"/>
          </a:xfrm>
          <a:prstGeom prst="roundRect">
            <a:avLst>
              <a:gd fmla="val 50000" name="adj"/>
            </a:avLst>
          </a:prstGeom>
          <a:noFill/>
          <a:ln cap="flat" cmpd="sng" w="25400">
            <a:solidFill>
              <a:srgbClr val="F25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6"/>
          <p:cNvSpPr txBox="1"/>
          <p:nvPr/>
        </p:nvSpPr>
        <p:spPr>
          <a:xfrm>
            <a:off x="6629972" y="2792268"/>
            <a:ext cx="890968" cy="34621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8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Срок</a:t>
            </a:r>
            <a:endParaRPr b="0" i="0" sz="1800" u="none" cap="none" strike="noStrike">
              <a:solidFill>
                <a:srgbClr val="B61AA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25" name="Google Shape;625;p6"/>
          <p:cNvGraphicFramePr/>
          <p:nvPr/>
        </p:nvGraphicFramePr>
        <p:xfrm>
          <a:off x="426059" y="3269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{056ED9D3-C9FE-4B52-9D2E-61AD6C9DD6D7}</a:tableStyleId>
              </a:tblPr>
              <a:tblGrid>
                <a:gridCol w="2950175"/>
                <a:gridCol w="3188675"/>
                <a:gridCol w="2043050"/>
              </a:tblGrid>
              <a:tr h="349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C056D"/>
                          </a:solidFill>
                        </a:rPr>
                        <a:t>Создание идеи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C0578"/>
                          </a:solidFill>
                        </a:rPr>
                        <a:t>Беляев Никита</a:t>
                      </a:r>
                      <a:endParaRPr b="0" sz="1400" u="none" cap="none" strike="noStrike">
                        <a:solidFill>
                          <a:srgbClr val="0C0578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C056D"/>
                          </a:solidFill>
                        </a:rPr>
                        <a:t>7 сент. – 14 сент.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C056D"/>
                          </a:solidFill>
                        </a:rPr>
                        <a:t>Код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C0581"/>
                          </a:solidFill>
                        </a:rPr>
                        <a:t>Билецкий Иван</a:t>
                      </a:r>
                      <a:endParaRPr sz="1400" u="none" cap="none" strike="noStrike">
                        <a:solidFill>
                          <a:srgbClr val="0C058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C056D"/>
                          </a:solidFill>
                        </a:rPr>
                        <a:t>1</a:t>
                      </a:r>
                      <a:r>
                        <a:rPr b="0" lang="ru-RU" sz="1400" u="none" cap="none" strike="noStrike">
                          <a:solidFill>
                            <a:srgbClr val="0C056D"/>
                          </a:solidFill>
                        </a:rPr>
                        <a:t>4 </a:t>
                      </a:r>
                      <a:r>
                        <a:rPr lang="ru-RU" sz="1400" u="none" cap="none" strike="noStrike">
                          <a:solidFill>
                            <a:srgbClr val="0C056D"/>
                          </a:solidFill>
                        </a:rPr>
                        <a:t>сент</a:t>
                      </a:r>
                      <a:r>
                        <a:rPr b="0" lang="ru-RU" sz="1400" u="none" cap="none" strike="noStrike">
                          <a:solidFill>
                            <a:srgbClr val="0C056D"/>
                          </a:solidFill>
                        </a:rPr>
                        <a:t>. – 2</a:t>
                      </a:r>
                      <a:r>
                        <a:rPr lang="ru-RU" sz="1400" u="none" cap="none" strike="noStrike">
                          <a:solidFill>
                            <a:srgbClr val="0C056D"/>
                          </a:solidFill>
                        </a:rPr>
                        <a:t>1</a:t>
                      </a:r>
                      <a:r>
                        <a:rPr b="0" lang="ru-RU" sz="1400" u="none" cap="none" strike="noStrike">
                          <a:solidFill>
                            <a:srgbClr val="0C056D"/>
                          </a:solidFill>
                        </a:rPr>
                        <a:t> сент.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C0581"/>
                          </a:solidFill>
                        </a:rPr>
                        <a:t>Реализация</a:t>
                      </a:r>
                      <a:endParaRPr sz="1400" u="none" cap="none" strike="noStrike">
                        <a:solidFill>
                          <a:srgbClr val="0C058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C0581"/>
                          </a:solidFill>
                        </a:rPr>
                        <a:t>Все</a:t>
                      </a:r>
                      <a:endParaRPr sz="1400" u="none" cap="none" strike="noStrike">
                        <a:solidFill>
                          <a:srgbClr val="0C058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C056D"/>
                          </a:solidFill>
                        </a:rPr>
                        <a:t>21 сент. – 11 окт.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0C056D"/>
                          </a:solidFill>
                        </a:rPr>
                        <a:t>Представление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lang="ru-RU" sz="1400" u="none" cap="none" strike="noStrike">
                          <a:solidFill>
                            <a:srgbClr val="2B0581"/>
                          </a:solidFill>
                        </a:rPr>
                        <a:t>Все</a:t>
                      </a:r>
                      <a:endParaRPr sz="1400" u="none" cap="none" strike="noStrike">
                        <a:solidFill>
                          <a:srgbClr val="2B058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25D9C"/>
                        </a:buClr>
                        <a:buSzPts val="1400"/>
                        <a:buFont typeface="Arial"/>
                        <a:buNone/>
                      </a:pPr>
                      <a:r>
                        <a:rPr b="0" lang="ru-RU" sz="1400" u="none" cap="none" strike="noStrike">
                          <a:solidFill>
                            <a:srgbClr val="0C056D"/>
                          </a:solidFill>
                        </a:rPr>
                        <a:t>30 окт.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"/>
          <p:cNvSpPr/>
          <p:nvPr/>
        </p:nvSpPr>
        <p:spPr>
          <a:xfrm>
            <a:off x="1511559" y="80927"/>
            <a:ext cx="6462300" cy="79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Фотографии прототипа</a:t>
            </a:r>
            <a:endParaRPr/>
          </a:p>
        </p:txBody>
      </p:sp>
      <p:sp>
        <p:nvSpPr>
          <p:cNvPr id="632" name="Google Shape;632;p7"/>
          <p:cNvSpPr/>
          <p:nvPr/>
        </p:nvSpPr>
        <p:spPr>
          <a:xfrm>
            <a:off x="467313" y="997890"/>
            <a:ext cx="3183300" cy="3259200"/>
          </a:xfrm>
          <a:prstGeom prst="roundRect">
            <a:avLst>
              <a:gd fmla="val 836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7"/>
          <p:cNvSpPr/>
          <p:nvPr/>
        </p:nvSpPr>
        <p:spPr>
          <a:xfrm>
            <a:off x="4762275" y="962450"/>
            <a:ext cx="3418500" cy="3306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4" name="Google Shape;63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25" y="1009250"/>
            <a:ext cx="3183300" cy="32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5" name="Google Shape;63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275" y="962450"/>
            <a:ext cx="3418500" cy="33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"/>
          <p:cNvSpPr/>
          <p:nvPr/>
        </p:nvSpPr>
        <p:spPr>
          <a:xfrm>
            <a:off x="394809" y="189052"/>
            <a:ext cx="6462300" cy="79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8"/>
          <p:cNvSpPr/>
          <p:nvPr/>
        </p:nvSpPr>
        <p:spPr>
          <a:xfrm>
            <a:off x="503208" y="1182652"/>
            <a:ext cx="3062100" cy="3140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B61AAE"/>
                </a:solidFill>
                <a:latin typeface="Arial"/>
                <a:ea typeface="Arial"/>
                <a:cs typeface="Arial"/>
                <a:sym typeface="Arial"/>
              </a:rPr>
              <a:t>Наш кодопуть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2000"/>
              <a:buFont typeface="Arial"/>
              <a:buChar char="●"/>
            </a:pPr>
            <a:r>
              <a:rPr b="0" i="0" lang="ru-RU" sz="20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Кодопуть или Kodoput среднее приложения для изучения конечно без бота но всё же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2000"/>
              <a:buFont typeface="Arial"/>
              <a:buChar char="●"/>
            </a:pPr>
            <a:r>
              <a:rPr b="0" i="0" lang="ru-RU" sz="2000" u="none" cap="none" strike="noStrike">
                <a:solidFill>
                  <a:srgbClr val="0C056D"/>
                </a:solidFill>
                <a:latin typeface="Arial"/>
                <a:ea typeface="Arial"/>
                <a:cs typeface="Arial"/>
                <a:sym typeface="Arial"/>
              </a:rPr>
              <a:t>Наше приложение не идеально но нормальное для легкой изучении базы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8"/>
          <p:cNvSpPr/>
          <p:nvPr/>
        </p:nvSpPr>
        <p:spPr>
          <a:xfrm>
            <a:off x="3829115" y="1255952"/>
            <a:ext cx="4905401" cy="3224608"/>
          </a:xfrm>
          <a:prstGeom prst="roundRect">
            <a:avLst>
              <a:gd fmla="val 584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8" title="Снимок экрана 2026-10-07 19183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29125" y="1255950"/>
            <a:ext cx="4905400" cy="3267201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"/>
          <p:cNvSpPr/>
          <p:nvPr/>
        </p:nvSpPr>
        <p:spPr>
          <a:xfrm>
            <a:off x="426059" y="214052"/>
            <a:ext cx="6462300" cy="79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Кто в чем лучше</a:t>
            </a:r>
            <a:endParaRPr/>
          </a:p>
        </p:txBody>
      </p:sp>
      <p:sp>
        <p:nvSpPr>
          <p:cNvPr id="649" name="Google Shape;649;p9"/>
          <p:cNvSpPr txBox="1"/>
          <p:nvPr/>
        </p:nvSpPr>
        <p:spPr>
          <a:xfrm>
            <a:off x="375600" y="1347800"/>
            <a:ext cx="8133900" cy="538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rgbClr val="590D82"/>
                </a:solidFill>
                <a:latin typeface="Calibri"/>
                <a:ea typeface="Calibri"/>
                <a:cs typeface="Calibri"/>
                <a:sym typeface="Calibri"/>
              </a:rPr>
              <a:t>Enki-строго, только для начинающих, только английский</a:t>
            </a:r>
            <a:endParaRPr b="1" i="0" sz="2100" u="none" cap="none" strike="noStrike">
              <a:solidFill>
                <a:srgbClr val="590D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9"/>
          <p:cNvSpPr txBox="1"/>
          <p:nvPr/>
        </p:nvSpPr>
        <p:spPr>
          <a:xfrm>
            <a:off x="426050" y="2485375"/>
            <a:ext cx="7165500" cy="894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rgbClr val="590D82"/>
                </a:solidFill>
                <a:latin typeface="Calibri"/>
                <a:ea typeface="Calibri"/>
                <a:cs typeface="Calibri"/>
                <a:sym typeface="Calibri"/>
              </a:rPr>
              <a:t>Mimo-ярко и много языков, можно начать с любого навыка</a:t>
            </a:r>
            <a:endParaRPr b="1" i="0" sz="2100" u="none" cap="none" strike="noStrike">
              <a:solidFill>
                <a:srgbClr val="590D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9"/>
          <p:cNvSpPr txBox="1"/>
          <p:nvPr/>
        </p:nvSpPr>
        <p:spPr>
          <a:xfrm>
            <a:off x="480850" y="3926850"/>
            <a:ext cx="7263600" cy="8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ru-RU" sz="2100" u="none" cap="none" strike="noStrike">
                <a:solidFill>
                  <a:srgbClr val="590D82"/>
                </a:solidFill>
                <a:latin typeface="Calibri"/>
                <a:ea typeface="Calibri"/>
                <a:cs typeface="Calibri"/>
                <a:sym typeface="Calibri"/>
              </a:rPr>
              <a:t>Kodoput-что то не прямо идеальное но нормально но только русский</a:t>
            </a:r>
            <a:endParaRPr b="1" i="0" sz="2100" u="none" cap="none" strike="noStrike">
              <a:solidFill>
                <a:srgbClr val="590D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0"/>
          <p:cNvSpPr/>
          <p:nvPr/>
        </p:nvSpPr>
        <p:spPr>
          <a:xfrm>
            <a:off x="39927" y="335150"/>
            <a:ext cx="5190900" cy="79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Описание и показ кода </a:t>
            </a:r>
            <a:endParaRPr/>
          </a:p>
        </p:txBody>
      </p:sp>
      <p:sp>
        <p:nvSpPr>
          <p:cNvPr id="657" name="Google Shape;657;p10"/>
          <p:cNvSpPr txBox="1"/>
          <p:nvPr/>
        </p:nvSpPr>
        <p:spPr>
          <a:xfrm>
            <a:off x="127950" y="1129250"/>
            <a:ext cx="5343300" cy="3561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index.html — 5 экранов: старт, онбординг, карта, урок, финал. Подключает CSS и JS.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style.css — тёмная тема, градиенты, кнопки, карточки, прогресс-бар.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app.js — логика: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LESSONS — данные 3 уроков.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state — очки, прогресс, текущий урок.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show() — смена экранов.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renderMap() / renderLesson() — отрисовка карты и урока.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renderOrderTask() / renderChoiceTask() — 2 формата заданий.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checkAnswer() — проверка ответа.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showHint() — подсказка.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showFinal() — итог.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save() — сохранение через localStorage.</a:t>
            </a:r>
            <a:endParaRPr b="1" i="0" sz="1400" u="none" cap="none" strike="noStrike">
              <a:solidFill>
                <a:srgbClr val="590D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8" name="Google Shape;6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9200" y="480825"/>
            <a:ext cx="3810274" cy="466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"/>
          <p:cNvSpPr/>
          <p:nvPr/>
        </p:nvSpPr>
        <p:spPr>
          <a:xfrm>
            <a:off x="2866684" y="228602"/>
            <a:ext cx="6462300" cy="7941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ru-RU" sz="3200" u="none" cap="none" strike="noStrike">
                <a:solidFill>
                  <a:srgbClr val="590D82"/>
                </a:solidFill>
                <a:latin typeface="Arial"/>
                <a:ea typeface="Arial"/>
                <a:cs typeface="Arial"/>
                <a:sym typeface="Arial"/>
              </a:rPr>
              <a:t> Вывод</a:t>
            </a:r>
            <a:endParaRPr/>
          </a:p>
        </p:txBody>
      </p:sp>
      <p:sp>
        <p:nvSpPr>
          <p:cNvPr id="664" name="Google Shape;664;p11"/>
          <p:cNvSpPr/>
          <p:nvPr/>
        </p:nvSpPr>
        <p:spPr>
          <a:xfrm>
            <a:off x="2009250" y="1296550"/>
            <a:ext cx="6950400" cy="3140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3000"/>
              <a:buFont typeface="Arial"/>
              <a:buChar char="●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не обязателен формат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3000"/>
              <a:buFont typeface="Arial"/>
              <a:buChar char="●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главное простота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3000"/>
              <a:buFont typeface="Arial"/>
              <a:buChar char="●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дизайн тоже нужен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61AAE"/>
              </a:buClr>
              <a:buSzPts val="3000"/>
              <a:buFont typeface="Arial"/>
              <a:buChar char="●"/>
            </a:pPr>
            <a:r>
              <a:rPr b="0" i="0" lang="ru-RU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нужно что то среднее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2026-10-16T10:21:20Z</dcterms:created>
  <dc:creator>Администратор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bd7da0c3e5734f368c85c54f944f5298</vt:lpwstr>
  </property>
</Properties>
</file>